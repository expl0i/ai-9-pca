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5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ближайшая / самая далекая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50</c:v>
                  </c:pt>
                  <c:pt idx="7">
                    <c:v>100</c:v>
                  </c:pt>
                  <c:pt idx="8">
                    <c:v>200</c:v>
                  </c:pt>
                  <c:pt idx="9">
                    <c:v>500</c:v>
                  </c:pt>
                  <c:pt idx="10">
                    <c:v>1000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0.001</c:v>
                </c:pt>
                <c:pt idx="1">
                  <c:v>0.038</c:v>
                </c:pt>
                <c:pt idx="2">
                  <c:v>0.09</c:v>
                </c:pt>
                <c:pt idx="3">
                  <c:v>0.18</c:v>
                </c:pt>
                <c:pt idx="4">
                  <c:v>0.329</c:v>
                </c:pt>
                <c:pt idx="5">
                  <c:v>0.499</c:v>
                </c:pt>
                <c:pt idx="6">
                  <c:v>0.66</c:v>
                </c:pt>
                <c:pt idx="7">
                  <c:v>0.737</c:v>
                </c:pt>
                <c:pt idx="8">
                  <c:v>0.811</c:v>
                </c:pt>
                <c:pt idx="9">
                  <c:v>0.872</c:v>
                </c:pt>
                <c:pt idx="10">
                  <c:v>0.911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размерность d (200 случайных точек в кубе)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ближайшая / самая далекая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50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0.911</c:v>
                </c:pt>
                <c:pt idx="1">
                  <c:v>0.922</c:v>
                </c:pt>
                <c:pt idx="2">
                  <c:v>0.878</c:v>
                </c:pt>
                <c:pt idx="3">
                  <c:v>0.7</c:v>
                </c:pt>
                <c:pt idx="4">
                  <c:v>0.633</c:v>
                </c:pt>
                <c:pt idx="5">
                  <c:v>0.6</c:v>
                </c:pt>
                <c:pt idx="6">
                  <c:v>0.433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число случайных признаков к трем полезным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 на тесте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компоненты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0.362</c:v>
                </c:pt>
                <c:pt idx="1">
                  <c:v>0.192</c:v>
                </c:pt>
                <c:pt idx="2">
                  <c:v>0.111</c:v>
                </c:pt>
                <c:pt idx="3">
                  <c:v>0.071</c:v>
                </c:pt>
                <c:pt idx="4">
                  <c:v>0.066</c:v>
                </c:pt>
                <c:pt idx="5">
                  <c:v>0.049</c:v>
                </c:pt>
                <c:pt idx="6">
                  <c:v>0.042</c:v>
                </c:pt>
                <c:pt idx="7">
                  <c:v>0.027</c:v>
                </c:pt>
                <c:pt idx="8">
                  <c:v>0.022</c:v>
                </c:pt>
                <c:pt idx="9">
                  <c:v>0.019</c:v>
                </c:pt>
                <c:pt idx="10">
                  <c:v>0.017</c:v>
                </c:pt>
                <c:pt idx="11">
                  <c:v>0.013</c:v>
                </c:pt>
                <c:pt idx="12">
                  <c:v>0.008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5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номер компоненты (Wine, 13 стандартизованных признаков)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доля дисперсии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нефлавоноидные фенолы</c:v>
                  </c:pt>
                  <c:pt idx="1">
                    <c:v>яблочная кислота</c:v>
                  </c:pt>
                  <c:pt idx="2">
                    <c:v>щелочность золы</c:v>
                  </c:pt>
                  <c:pt idx="3">
                    <c:v>интенсивность цвета</c:v>
                  </c:pt>
                  <c:pt idx="4">
                    <c:v>зола</c:v>
                  </c:pt>
                  <c:pt idx="5">
                    <c:v>магний</c:v>
                  </c:pt>
                  <c:pt idx="6">
                    <c:v>алкоголь</c:v>
                  </c:pt>
                  <c:pt idx="7">
                    <c:v>пролин</c:v>
                  </c:pt>
                  <c:pt idx="8">
                    <c:v>оттенок</c:v>
                  </c:pt>
                  <c:pt idx="9">
                    <c:v>проантоцианидины</c:v>
                  </c:pt>
                  <c:pt idx="10">
                    <c:v>оптическая плотность</c:v>
                  </c:pt>
                  <c:pt idx="11">
                    <c:v>фенолы, всего</c:v>
                  </c:pt>
                  <c:pt idx="12">
                    <c:v>флавоноиды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-0.299</c:v>
                </c:pt>
                <c:pt idx="1">
                  <c:v>-0.245</c:v>
                </c:pt>
                <c:pt idx="2">
                  <c:v>-0.239</c:v>
                </c:pt>
                <c:pt idx="3">
                  <c:v>-0.089</c:v>
                </c:pt>
                <c:pt idx="4">
                  <c:v>-0.002</c:v>
                </c:pt>
                <c:pt idx="5">
                  <c:v>0.142</c:v>
                </c:pt>
                <c:pt idx="6">
                  <c:v>0.144</c:v>
                </c:pt>
                <c:pt idx="7">
                  <c:v>0.287</c:v>
                </c:pt>
                <c:pt idx="8">
                  <c:v>0.297</c:v>
                </c:pt>
                <c:pt idx="9">
                  <c:v>0.313</c:v>
                </c:pt>
                <c:pt idx="10">
                  <c:v>0.376</c:v>
                </c:pt>
                <c:pt idx="11">
                  <c:v>0.395</c:v>
                </c:pt>
                <c:pt idx="12">
                  <c:v>0.423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5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4"/>
        </c:scaling>
        <c:delete val="0"/>
        <c:axPos val="b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вес признака в v₁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точность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5</c:v>
                  </c:pt>
                  <c:pt idx="4">
                    <c:v>8</c:v>
                  </c:pt>
                  <c:pt idx="5">
                    <c:v>13</c:v>
                  </c:pt>
                  <c:pt idx="6">
                    <c:v>без метода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0.848</c:v>
                </c:pt>
                <c:pt idx="1">
                  <c:v>0.968</c:v>
                </c:pt>
                <c:pt idx="2">
                  <c:v>0.984</c:v>
                </c:pt>
                <c:pt idx="3">
                  <c:v>0.968</c:v>
                </c:pt>
                <c:pt idx="4">
                  <c:v>0.96</c:v>
                </c:pt>
                <c:pt idx="5">
                  <c:v>0.976</c:v>
                </c:pt>
                <c:pt idx="6">
                  <c:v>0.976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число главных компонент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точность, кросс-валидация на 125 винах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Последняя большая тема Блока 2 перед итоговой работой. До сих пор мы добавляли признаки, чтобы модели знали больше. Сегодня обратная задача: как уменьшить число признаков и при этом сохранить главное. Метод главных компонент находит новые оси вдоль облака точек. На картинке облако точек лидара на кузове машины и две стрелки: это главные компоненты, они показывают, куда повернута машина.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Задайте вопрос классу. У вина 13 признаков, у изображения рукописной цифры 64 пикселя, у кадра камеры миллионы. Нарисовать мы можем только две оси. Можно выбрать два признака из тринадцати, но тогда мы выбросим остальные одиннадцать. Можно ли построить два новых признака, в которые войдет информация из всех? Выслушайте варианты. Ответ сегодня: да, и это метод главных компонент. Для Wine две новые оси сохранят 55 % разброса данных, а сорта на рисунке будут видны почти без перекрытия.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Сначала разберемся, почему много признаков не всегда хорошо. Это называют проклятием размерности.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 из задания П1. Разбросаем 200 случайных точек в кубе размерности d и для новой точки найдем отношение расстояния до ближайшей точки к расстоянию до самой далекой. На прямой это отношение почти ноль: ближайший сосед в тысячу раз ближе самого далекого. При d = 1000 отношение 0,911: ближайший сосед почти так же далек, как самый далекий. Почему так: квадрат расстояния складывается из d независимых слагаемых, и при большом d сумма почти всегда близка к своему среднему. Еще один эффект: почти весь объем многомерного куба лежит у его границ. При d = 50 в тонком слое толщиной 0,05 у граней лежит 99,5 % объема.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это значит для моделей. Возьмем объекты на дороге из Б1.2: три полезных признака, метод k ближайших соседей с k = 13, точность на тесте 0,911. Добавим случайные признаки, никак не связанные с объектом. Уже пять таких признаков снижают точность до 0,700, пятьдесят до 0,433, это близко к угадыванию 0,333. Расстояние считается по всем признакам сразу, и шум заглушает полезную информацию. Вывод: лишние признаки вредны, и число признаков стоит уменьшать с умом.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Чтобы найти новые оси, нужно описать форму облака точек числами. Для этого служат дисперсия и ковариация.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Центрирование: из каждого признака вычитаем его среднее, и облако встает в начало координат. Дисперсия признака: средний квадрат отклонения. Ковариация двух признаков: среднее произведение их отклонений. Посчитайте на доске четыре точки. Средние (3, 3), дисперсии 3,5 и 2,5, ковариация 2,5. Знак ковариации показывает направление связи: больше нуля, если признаки растут вместе, меньше нуля, если один растет, а другой падает, около нуля, если линейной связи нет. Мы делим на n, библиотеки обычно делят на n минус 1; на направления компонент это не влияет. Задание П2.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Ковариационная матрица собирает все дисперсии и ковариации. Для двух признаков это таблица 2 × 2. Вот облако точек лидара на кузове машины, повернутой на 30 градусов. На диагонали дисперсии по x и по y: 1,322 и 0,635. Вне диагонали ковариация 0,611: облако наклонено вверх. Сумма диагонали 1,957 – это общая дисперсия облака. Обратите внимание: дисперсия по x больше, но машина вытянута не вдоль оси x, а под углом 30 градусов. Точное направление вытянутости дадут главные компоненты.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Главные компоненты: что это такое, почему это собственные векторы ковариационной матрицы и как их найти без библиотек.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главная компонента – направление, вдоль которого облако точек разбросано сильнее всего. У машины это направление длинной стороны: метод нашел угол 30,3 градуса, генератор поворачивал машину на 30. Вдоль первой компоненты 85,8 % всей дисперсии. Вторая компонента перпендикулярна первой. Если перейти к новым осям, машина встанет ровно, а размах проекций даст ее размеры: 4,62 на 1,89 метра при настоящих 4,5 на 1,8. Так беспилотный автомобиль может оценить ориентацию объекта по облаку точек.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компоненты связаны с собственными векторами. Проекция точки на направление v – скалярное произведение центрированной точки и v. Средний квадрат проекций равен v транспонированное, умножить на C, умножить на v: разброс вдоль любого направления считается по одной матрице. Из линейной алгебры известно, что наибольшее значение этой величины достигается на собственном векторе C, для которого C v = λ v. Само λ при этом равно дисперсии вдоль v. Компоненты нумеруют по убыванию λ, а сумма всех λ равна общей дисперсии: у машины 1,679 плюс 0,278 дает 1,957.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найти первую компоненту без библиотек. Берем случайный вектор и много раз умножаем его на матрицу C, каждый раз приводя к длине 1. Объясните почему это работает: начальный вектор раскладывается по компонентам, при каждом умножении составляющая вдоль первой компоненты умножается на λ1, а остальные на меньшие числа. Через несколько шагов остается только первая компонента. Ошибка убывает как степень отношения λ2 к λ1. Векторы v и минус v задают одну прямую, поэтому договариваемся о знаке. Для машины хватило 14 итераций. Задание П3.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найти вторую компоненту, вычитаем из матрицы найденную: C минус λ1 на v1 v1 транспонированное. У новой матрицы вдоль v1 дисперсия равна нулю, остальные компоненты прежние, и степенной метод найдет v2. Это называется исчерпыванием. Повторяя, находим столько компонент, сколько нужно. Обучение метода главных компонент – это средние и компоненты, они хранятся как параметры. Наши компоненты Wine совпали со sklearn: модуль косинуса между ними равен единице. Задание П4.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Доля объясненной дисперсии: дисперсия компоненты, деленная на общую. Для Wine после стандартизации первая компонента объясняет 36 %, вторая 19 %, дальше доли быстро падают. Две компоненты сохраняют 55,4 %, для 90 % нужно 8 компонент из 13. Число компонент выбирают по доле дисперсии или, если после снижения размерности работает модель, по кросс-валидации этой модели, как в задании П7.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Проекция Wine на две первые компоненты. Метод не знал сортов, но на рисунке они почти не перекрываются: сорта отличаются по многим признакам сразу, и именно эти различия дают основной разброс в данных. Справа то же самое без стандартизации. Дисперсия пролина около 99 000, а у остальных признаков не больше 204. Первая компонента объясняет 99,8 % дисперсии и почти совпадает с осью пролина: ее вес 0,9998. Результат зависит от единиц измерения, а не от содержания данных. Вывод: перед методом главных компонент признаки стандартизуют. Задание П5.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Компонента – взвешенная сумма стандартизованных признаков. Посмотрим на веса первой компоненты Wine. Самые большие положительные веса у флавоноидов, общего содержания фенолов, оптической плотности разбавленного вина и проантоцианидинов. Отрицательные веса у нефлавоноидных фенолов, яблочной кислоты и щелочности золы. Значит, первая компонента – это «фенольная» ось: большие значения у вин сорта 0, богатых фенолами, маленькие у сорта 2. Такое чтение весов помогает понять, что именно метод нашел в данных.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Сжатые данные можно восстановить: среднее плюс сумма проекций, умноженных на компоненты. Для машины по одной компоненте все точки встают на прямую вдоль кузова, серые отрезки – потерянная информация. Средний квадрат ошибки восстановления ровно равен сумме отброшенных дисперсий: для машины это λ2 = 0,278, для Wine таблица справа. Это главное свойство метода: никакие другие k направлений не дают меньшей ошибки. Задание П6.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Важное правило, знакомое по Б1.6 и Б2.1. Средние, стандартные отклонения и компоненты – параметры, которые обучаются только по обучающей выборке. К валидационным, тестовым и новым объектам их применяют готовыми. Внутри кросс-валидации их считают заново в каждом блоке. Здесь утечка небольшая: 0,976 против честных 0,968, потому что метод не видит ответов. Но правило соблюдаем всегда, ведь заранее неизвестно, насколько сильна утечка. А беспилотный автомобиль встречает объекты по одному, и по одному объекту нельзя посчитать ни средние, ни ковариационную матрицу.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практический результат. Метод k ближайших соседей с k = 5, кросс-валидация на 125 винах. Все 13 признаков: 0,976. Две компоненты: 0,968, почти то же самое при сокращении данных в 6,5 раза. На тесте 0,925 против 0,943, это одно вино из 53. Одной компоненты мало: 0,848, потому что сорт 1 лежит между сортами 0 и 2 и перекрывается с ними. Задание П7.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 главных компонент ищет направления наибольшего разброса и не знает, какие признаки полезны. Добавим к трем признакам объектов на дороге 20 случайных признаков: их дисперсия больше, чем у полезных, первые компоненты состоят из шума, и точность падает с 0,600 до 0,378. А если добавить 20 зашумленных копий полезных признаков, как будто несколько датчиков измеряют одно и то же, метод собирает общую часть копий и усредняет шум: 0,944 против 0,922. Правило: метод полезен для многих связанных признаков и бесполезен против независимого шума. Задание П8.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сильных учеников. Набор рукописных цифр: 1797 изображений 8 × 8, то есть 64 признака. Наш метод находит 40 компонент на чистом Python за несколько секунд. Двадцать компонент из 64 хранят 89 % дисперсии. По двум компонентам цифра восстанавливается в размытое пятно, по десяти уже узнается, по сорока почти неотличима от исходной. Сами компоненты можно нарисовать как изображения: это «собственные цифры», из которых складывается любая цифра. В Теме 2 мы будем работать с настоящими изображениями.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Переходим к практике: весь метод главных компонент пишем с нуля, метод соседей и кросс-валидацию берем готовыми.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заданий идут в порядке занятия. Темным выделены главные: П3, степенной метод, и П7, честная проверка с кросс-валидацией. Каждая функция сверяется с библиотекой: ковариация с numpy, доли и компоненты со sklearn. После каждой функции есть строка «ожидается», значения должны совпасть. Задание повышенной сложности про рукописные цифры – для тех, кто закончит раньше.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ответить без слайдов: что такое проклятие размерности и чем оно опасно для метода соседей; что показывает ковариационная матрица; что такое главная компонента и как ее найти степенным методом; как выбрать число компонент; почему признаки нужно стандартизовать и почему компоненты обучаются только на обучающей выборке; в каком случае метод не поможет. На следующем занятии итоговая практическая работа по Теме 1: все методы блока вместе.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главных компонент: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сжать данные и не потерять главное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9601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508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 вина 13 признаков, у рукописной цифры 8 × 8 – 64 пикселя. Как увидеть такие данные глазами?»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2834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Нарисовать можно две оси, в крайнем случае три. Нужно найти два новых признака, которые сохранят как можно больше информации из всех тринадцати.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Проклятие размерности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много признаков – это не всегда хорошо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ПРОКЛЯТИЕ РАЗМЕРНОСТИ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точки становятся одинаково далекими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1: 0,001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сосед в тысячу раз ближе самого далекого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1000: 0,911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ближайший почти так же далек, как самый далекий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весь объем – у границ: при d = 50 в слое толщиной 0,05 у граней куба лежит 99,5 % объема.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ПРОКЛЯТИЕ РАЗМЕРНОСТИ НА ДОРОГЕ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Лишние признаки ломают метод соседей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0,911 → 0,433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k ближайших соседей, k = 13: три полезных признака и 50 случайных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угадывание: 0,333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класса: пешеход, велосипедист, автомобиль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считается по всем признакам сразу: шум 50 признаков заглушает три полезных.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 и ковариация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описать форму облака точек одной таблицей чисел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ОБЛАКА ТОЧЕК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Центрирование, дисперсия, ковариация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16916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 − μ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48132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центрирование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64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σ²ⱼ = среднее z²ⱼ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17830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дисперсия признака j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665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cⱼₗ = среднее zⱼ · zₗ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20848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ковариация признаков j и 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– вектор средних, усреднение по всем n объектам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754880" cy="12344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3044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Считаем вместе: (1, 2), (2, 1), (3, 4), (6, 5)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3832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(3, 3); z: (−2, −1), (−1, −2), (0, 1), (3,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σ²₁ = 14 / 4 = 3,5   σ²₂ = 10 / 4 = 2,5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c₁₂ = (2 + 2 + 0 + 6) / 4 = 2,5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20040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66928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&gt; 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растут вместе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2148840"/>
            <a:ext cx="32004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66928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&lt; 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растет, другой падает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200400"/>
            <a:ext cx="32004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69280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≈ 0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линейной связи нет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КОВАРИАЦИОННАЯ МАТРИЦА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Облако точек машины в четырех числах</a:t>
            </a:r>
            <a:endParaRPr lang="en-US" sz="2400" dirty="0"/>
          </a:p>
        </p:txBody>
      </p:sp>
      <p:pic>
        <p:nvPicPr>
          <p:cNvPr id="4" name="Image 0" descr="img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65760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34840" y="1097280"/>
            <a:ext cx="4251960" cy="16002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617720" y="1188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C ДЛЯ МАШИНЫ, ПОВЕРНУТОЙ НА 30°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1508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⎡ 1,322   0,611 ⎤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⎣ 0,611   0,635 ⎦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2286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диагонали – дисперсии x и y, вне диагонали – ковариация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34840" y="2880360"/>
            <a:ext cx="2011680" cy="1188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61772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0,611 &gt; 0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наклонено вверх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675120" y="2880360"/>
            <a:ext cx="2011680" cy="1188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58000" y="29718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1,957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0" y="3383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дисперсия: сумма диагонали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Главные компоненты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оси вдоль облака точек и как их найти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ГЛАВНАЯ КОМПОНЕНТА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Направление наибольшей дисперсии</a:t>
            </a:r>
            <a:endParaRPr lang="en-US" sz="2400" dirty="0"/>
          </a:p>
        </p:txBody>
      </p:sp>
      <p:pic>
        <p:nvPicPr>
          <p:cNvPr id="4" name="Image 0" descr="img/car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760720" cy="1965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097280"/>
            <a:ext cx="237744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92240" y="1188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угол 30,3°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генератор повернул машину на 30°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309360" y="2148840"/>
            <a:ext cx="23774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92240" y="22402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0,858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дисперсии – вдоль длинной стороны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82296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246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оси – сдвиг и поворот: расстояния между точками не меняются. Размах проекций дает размеры кузова: 4,62 × 1,89 м (на самом деле 4,5 × 1,8 м). Так беспилотный автомобиль оценивает ориентацию объекта.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ПРОЕКЦИЯ И СОБСТВЕННЫЙ ВЕКТОР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компоненты – собственные векторы 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24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Проекция на направление v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(x − μ) · v,  длина v равна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Дисперсия проекций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86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t² = vᵀ C v: считается по матрице, без точек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62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Наибольшая дисперсия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достигается на собственном векторе: C v = λ v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097280"/>
            <a:ext cx="4251960" cy="14630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17720" y="11887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ВЕКТОР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v = λ v   →   vᵀ C v = λ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19659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только растягивает v, не поворачивая; λ – дисперсия вдоль 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743200"/>
            <a:ext cx="4251960" cy="13716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1772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λ₁ ≥ λ₂ ≥ … ≥ λd ≥ 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2004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перпендикулярны друг другу, их дисперсии в сумме дают общую дисперсию. У машины: 1,679 + 0,278 = 1,957.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СТЕПЕННОЙ МЕТОД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Умножай на матрицу – и найдешь компоненту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247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Случайный вектор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длиной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← C v / ‖C v‖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повторять, пока v почти не меняется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803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620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 = vᵀ C v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знак: наибольшая по модулю координата положительна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097280"/>
            <a:ext cx="4480560" cy="2331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89120" y="120700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П3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1463040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iterations in range(1, n_iter + 1):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matvec(Cm, v)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[x / norm(w) for x in w]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done = max(abs(a - b)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for a, b in zip(w, v)) &lt; tol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done: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 = dot(v, matvec(Cm, v))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работает: составляющая вдоль v₁ растет как λ₁ᵗ, остальные медленнее. Ошибка убывает как (λ₂ / λ₁)ᵗ. Машина: 14 итераций.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ИСЧЕРПЫВАНИЕ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Вторая, третья и следующие компоненты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14630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ВЫЧЕСТЬ НАЙДЕННУЮ КОМПОНЕНТУ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08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C' = C − λ₁ · v₁ v₁ᵀ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вдоль v₁ дисперсия становится 0, остальные компоненты не меняются; степенной метод для C' находит v₂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47548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дисперсия 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(0,863; 0,505)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(−0,505; 0,863)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0" y="1097280"/>
            <a:ext cx="320040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66928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v₁ · v₂ = 0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перпендикулярны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86400" y="2148840"/>
            <a:ext cx="32004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669280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 = μ и v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и компоненты – параметры метода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3200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компоненты Wine совпали с sklearn (|косинус| = 1), доли – до 16-го знака.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ОБЪЯСНЕННОЙ ДИСПЕРСИИ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компонент оставить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компоненты: 55,4 %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хватает, чтобы нарисовать сорта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90 %: 8 компонент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накопленная доля 0,920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компоненты m: λm / (λ₁ + … + λd). Число компонент выбирают по доле или по кросс-валидации модели.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НА ПЛОСКОСТИ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Сорта видно, хотя метод их не знал</a:t>
            </a:r>
            <a:endParaRPr lang="en-US" sz="2400" dirty="0"/>
          </a:p>
        </p:txBody>
      </p:sp>
      <p:pic>
        <p:nvPicPr>
          <p:cNvPr id="4" name="Image 0" descr="img/wi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760720" cy="1920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1097280"/>
            <a:ext cx="228600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5836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55,4 %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дисперсии в двух компонентах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0" y="2148840"/>
            <a:ext cx="228600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99,8 %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стандартизации у первой компоненты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8229600" cy="868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246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решает. Дисперсия пролина около 99 000, у остальных признаков – не больше 204. Без стандартизации первая компонента – это просто ось пролина (вес 0,9998), и сорта перекрываются.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 КОМПОНЕНТУ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Первая компонента Wine – «фенольная»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флавоноиды 0,423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фенолы 0,395, оптическая плотность 0,376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t₁ большое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вина, богатые фенолами: сорт 0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Компонента – взвешенная сумма стандартизованных признаков. Вес показывает, насколько признак в нее входит.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= сумма отброшенных дисперсий</a:t>
            </a:r>
            <a:endParaRPr lang="en-US" sz="2400" dirty="0"/>
          </a:p>
        </p:txBody>
      </p:sp>
      <p:pic>
        <p:nvPicPr>
          <p:cNvPr id="4" name="Image 0" descr="img/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566160" cy="2907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3400" y="1097280"/>
            <a:ext cx="434340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2628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x̂ = μ + t₁v₁ + … + tₖvₖ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ближайшая к x точка в пространстве k компонент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148840"/>
          <a:ext cx="4343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17830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ошибка восстановления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λₖ₊₁ + … + λ₁₃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8,294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343400" y="3703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Wine, средний квадрат ошибки из 13 возможных. Машина по одной компоненте: ошибка 0,278 = λ₂.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 ПРИМЕНЕНИЕ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Компоненты – только по обучающей выборке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828800" cy="6400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обучающая часть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0" y="1554480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60320" y="1234440"/>
            <a:ext cx="18288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стандартизация: μ, σ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1234440"/>
            <a:ext cx="1828800" cy="640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компоненты: μ, v₁ … vₖ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274320" cy="0"/>
          </a:xfrm>
          <a:prstGeom prst="line">
            <a:avLst/>
          </a:prstGeom>
          <a:noFill/>
          <a:ln w="19050">
            <a:solidFill>
              <a:srgbClr val="969CA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766560" y="1234440"/>
            <a:ext cx="1828800" cy="64008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234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соседей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240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объект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240280"/>
            <a:ext cx="1828800" cy="640080"/>
          </a:xfrm>
          <a:prstGeom prst="rect">
            <a:avLst/>
          </a:prstGeom>
          <a:ln w="12700">
            <a:solidFill>
              <a:srgbClr val="E1E3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560320"/>
            <a:ext cx="4206240" cy="0"/>
          </a:xfrm>
          <a:prstGeom prst="line">
            <a:avLst/>
          </a:prstGeom>
          <a:noFill/>
          <a:ln w="19050">
            <a:solidFill>
              <a:srgbClr val="1F63C9"/>
            </a:solidFill>
            <a:prstDash val="dash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468880" y="2606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применяем готовые μ, σ, v: ничего не пересчитываем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2651760" cy="10058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честно: 0,968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кросс-валидация, компоненты в каждом блоке заново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108960"/>
            <a:ext cx="2651760" cy="10058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42900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утечкой: 0,976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 по всем 125 винам до кросс-валидации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035040" y="31089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 мала: метод не видит ответов. Но правило соблюдаем всегда, а один встречный объект беспилотного автомобиля не даст ни средних, ни матрицы.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СОСЕДИ ПОСЛЕ СЖАТИЯ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признака вместо 13 почти без потерь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0,968 против 0,976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00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компоненты и все 13 признаков, k = 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17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тест: 0,925 и 0,943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– одно вино из 53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035040" y="3200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компонента – мало (0,848): сорт 1 лежит между сортами 0 и 2.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 МЕТОДА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Компоненты ищут разброс, а не пользу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82880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трем признакам добавили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 23 признака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 метода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случайных признаков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86F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0,378 (3 компоненты)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шум разбросан сильнее полезных признаков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зашумленных копий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0,944 (2 компоненты)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общая часть копий складывается, шум усредняется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926080"/>
            <a:ext cx="3977640" cy="118872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3017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полезен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связанных признаков: датчики измеряют одно и то же, соседние пиксели, химический состав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09160" y="2926080"/>
            <a:ext cx="3977640" cy="1188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92040" y="3017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вреден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342900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дают признаки, не связанные с ответом: их убирают отбором по кросс-валидации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Рукописные цифры 8 × 8</a:t>
            </a:r>
            <a:endParaRPr lang="en-US" sz="2400" dirty="0"/>
          </a:p>
        </p:txBody>
      </p:sp>
      <p:pic>
        <p:nvPicPr>
          <p:cNvPr id="4" name="Image 0" descr="img/dig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572000" cy="3099816"/>
          </a:xfrm>
          <a:prstGeom prst="rect">
            <a:avLst/>
          </a:prstGeom>
        </p:spPr>
      </p:pic>
      <p:pic>
        <p:nvPicPr>
          <p:cNvPr id="5" name="Image 1" descr="img/eig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051560"/>
            <a:ext cx="3429000" cy="65836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257800" y="173736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и первые компоненты – «собственные цифры»</a:t>
            </a:r>
            <a:endParaRPr lang="en-US" sz="850" dirty="0"/>
          </a:p>
        </p:txBody>
      </p:sp>
      <p:sp>
        <p:nvSpPr>
          <p:cNvPr id="7" name="Shape 3"/>
          <p:cNvSpPr/>
          <p:nvPr/>
        </p:nvSpPr>
        <p:spPr>
          <a:xfrm>
            <a:off x="5257800" y="2103120"/>
            <a:ext cx="342900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5440680" y="21945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из 64: 89,4 %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40680" y="26060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дисперсии пикселей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257800" y="3108960"/>
            <a:ext cx="3429000" cy="8686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440680" y="32004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компонент за 4 с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3611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чистом Python, совпадает со sklearn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метод главных компонент своими руками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 заданий: от проклятия размерности до честной проверки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заданий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0700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0700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Проклятие размерности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near_far_ratio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0700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20700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Ковариация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covariance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8229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07008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20700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Степенной метод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power_iteration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057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216712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16712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компоненты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2532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deflate · pca_fit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46120" y="2057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16712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83280" y="216712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на плоскости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2532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стандартизация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35040" y="205740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16712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216712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25328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pca_inverse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017520"/>
            <a:ext cx="2651760" cy="8229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3127248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312724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0972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проверка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9728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knn_pca_model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46120" y="30175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83280" y="3127248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383280" y="312724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П8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8862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не помогает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388620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шум и копии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35040" y="3017520"/>
            <a:ext cx="26517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2200" y="3127248"/>
            <a:ext cx="384048" cy="338328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3127248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675120" y="34930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цифры 8 × 8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соседей и кросс-валидация – готовые из Б1.2 и Б2.1. Сверка: ковариация с numpy, компоненты и доли со sklearn.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Лишние признаки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проклятие размерности: расстояния выравниваются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Ковариация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облака в матрице d × 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Компоненты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оси наибольшей дисперсии: C v = λ v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Степенной метод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умножать на C; исчерпывание – следующие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Доля дисперсии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числа компонент; ошибка – отброшенное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стандартизация, обучение только на обучающей</a:t>
            </a:r>
            <a:endParaRPr lang="en-US" sz="900" dirty="0"/>
          </a:p>
        </p:txBody>
      </p:sp>
      <p:pic>
        <p:nvPicPr>
          <p:cNvPr id="22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Снижение размерности: метод главных компонент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 главных компонент</dc:title>
  <dc:subject>PptxGenJS Presentation</dc:subject>
  <dc:creator>PptxGenJS</dc:creator>
  <cp:lastModifiedBy>PptxGenJS</cp:lastModifiedBy>
  <cp:revision>1</cp:revision>
  <dcterms:created xsi:type="dcterms:W3CDTF">2026-10-02T01:52:40Z</dcterms:created>
  <dcterms:modified xsi:type="dcterms:W3CDTF">2026-10-02T01:52:40Z</dcterms:modified>
</cp:coreProperties>
</file>